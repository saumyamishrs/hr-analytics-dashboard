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Barlow Condensed"/>
      <p:regular r:id="rId201314"/>
    </p:embeddedFont>
    <p:embeddedFont>
      <p:font typeface="Barlow Condensed Bold"/>
      <p:regular r:id="rId201315"/>
    </p:embeddedFont>
    <p:embeddedFont>
      <p:font typeface="Bodoni Moda"/>
      <p:regular r:id="rId201316"/>
    </p:embeddedFont>
    <p:embeddedFont>
      <p:font typeface="Bodoni Moda Medium"/>
      <p:regular r:id="rId201317"/>
    </p:embeddedFont>
    <p:embeddedFont>
      <p:font typeface="Bodoni Moda Bold"/>
      <p:regular r:id="rId201318"/>
    </p:embeddedFont>
    <p:embeddedFont>
      <p:font typeface="IBM Plex Sans"/>
      <p:regular r:id="rId201319"/>
    </p:embeddedFont>
    <p:embeddedFont>
      <p:font typeface="IBM Plex Sans SemiBold"/>
      <p:regular r:id="rId201320"/>
    </p:embeddedFont>
    <p:embeddedFont>
      <p:font typeface="IBM Plex Sans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34187" cy="685800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58800"/>
            <a:ext cx="7924602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i="1" spc="24" kern="100" dirty="0">
                <a:solidFill>
                  <a:srgbClr val="FCFBF8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HR ANALYTICS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3475337"/>
            <a:ext cx="7340416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9200" dirty="0">
                <a:solidFill>
                  <a:srgbClr val="FCFBF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16.1%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609585" y="4751320"/>
            <a:ext cx="7340416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dirty="0">
                <a:solidFill>
                  <a:srgbClr val="FCFBF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HR attrition across 1.47K employees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09585" y="5555655"/>
            <a:ext cx="2422167" cy="57150"/>
          </a:xfrm>
          <a:prstGeom prst="roundRect">
            <a:avLst>
              <a:gd name="adj" fmla="val 49999"/>
            </a:avLst>
          </a:prstGeom>
          <a:solidFill>
            <a:srgbClr val="E9272A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5851247"/>
            <a:ext cx="734041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dirty="0">
                <a:solidFill>
                  <a:srgbClr val="FCFBF8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A concentrated signal, with the clearest pressure in early tenure, lower salary bands, and high-volume roles.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34187" y="0"/>
            <a:ext cx="3657509" cy="685800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9" name="Text 7"/>
          <p:cNvSpPr/>
          <p:nvPr/>
        </p:nvSpPr>
        <p:spPr>
          <a:xfrm>
            <a:off x="8534187" y="447421"/>
            <a:ext cx="3555911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889778" y="5870773"/>
            <a:ext cx="2946326" cy="555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200" i="1" spc="14" kern="100" dirty="0">
                <a:solidFill>
                  <a:srgbClr val="000000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Executive readout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000000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HR leadership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40576" cy="685800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355600"/>
            <a:ext cx="84579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000000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Age profile · departures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2588" y="921980"/>
            <a:ext cx="8026199" cy="1088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Attrition is concentrated in the 26–35 age group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82588" y="2200771"/>
            <a:ext cx="1003176" cy="38100"/>
          </a:xfrm>
          <a:prstGeom prst="roundRect">
            <a:avLst>
              <a:gd name="adj" fmla="val 49999"/>
            </a:avLst>
          </a:prstGeom>
          <a:solidFill>
            <a:srgbClr val="2348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588" y="2457946"/>
            <a:ext cx="7873803" cy="3811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40576" y="0"/>
            <a:ext cx="3251119" cy="685800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8" name="Shape 5"/>
          <p:cNvSpPr/>
          <p:nvPr/>
        </p:nvSpPr>
        <p:spPr>
          <a:xfrm>
            <a:off x="9245369" y="428625"/>
            <a:ext cx="330192" cy="57150"/>
          </a:xfrm>
          <a:prstGeom prst="roundRect">
            <a:avLst>
              <a:gd name="adj" fmla="val 49999"/>
            </a:avLst>
          </a:prstGeom>
          <a:solidFill>
            <a:srgbClr val="E9272A"/>
          </a:solidFill>
          <a:ln/>
        </p:spPr>
      </p:sp>
      <p:sp>
        <p:nvSpPr>
          <p:cNvPr id="9" name="Text 6"/>
          <p:cNvSpPr/>
          <p:nvPr/>
        </p:nvSpPr>
        <p:spPr>
          <a:xfrm>
            <a:off x="9245369" y="704850"/>
            <a:ext cx="294632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FCFBF8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Largest cohort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245369" y="1312763"/>
            <a:ext cx="2641534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000" dirty="0">
                <a:solidFill>
                  <a:srgbClr val="FCFBF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116</a:t>
            </a:r>
            <a:endParaRPr lang="en-US" sz="7000" dirty="0"/>
          </a:p>
        </p:txBody>
      </p:sp>
      <p:sp>
        <p:nvSpPr>
          <p:cNvPr id="11" name="Text 8"/>
          <p:cNvSpPr/>
          <p:nvPr/>
        </p:nvSpPr>
        <p:spPr>
          <a:xfrm>
            <a:off x="9245369" y="2307173"/>
            <a:ext cx="264153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C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departures in the 26–35 age group.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245369" y="6234212"/>
            <a:ext cx="294632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FCFBF8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Source: HR Analytics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0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381000"/>
            <a:ext cx="294632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FCFBF8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Salary profile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792" y="988913"/>
            <a:ext cx="2641534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000" dirty="0">
                <a:solidFill>
                  <a:srgbClr val="FCFBF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163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304792" y="1983323"/>
            <a:ext cx="264153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C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departures in the Up to 5K band.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4792" y="5765998"/>
            <a:ext cx="330192" cy="57150"/>
          </a:xfrm>
          <a:prstGeom prst="roundRect">
            <a:avLst>
              <a:gd name="adj" fmla="val 49999"/>
            </a:avLst>
          </a:prstGeom>
          <a:solidFill>
            <a:srgbClr val="E9272A"/>
          </a:solidFill>
          <a:ln/>
        </p:spPr>
      </p:sp>
      <p:sp>
        <p:nvSpPr>
          <p:cNvPr id="7" name="Text 5"/>
          <p:cNvSpPr/>
          <p:nvPr/>
        </p:nvSpPr>
        <p:spPr>
          <a:xfrm>
            <a:off x="304792" y="6042223"/>
            <a:ext cx="264153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FCFBF8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Lower bands carry most of the observed attrition.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1119" y="0"/>
            <a:ext cx="8940576" cy="685800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9" name="Text 7"/>
          <p:cNvSpPr/>
          <p:nvPr/>
        </p:nvSpPr>
        <p:spPr>
          <a:xfrm>
            <a:off x="3733707" y="355600"/>
            <a:ext cx="84579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000000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Departures by salary band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33707" y="921980"/>
            <a:ext cx="8026199" cy="1088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Lower salary bands account for most attrition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3733707" y="2200771"/>
            <a:ext cx="1003176" cy="38100"/>
          </a:xfrm>
          <a:prstGeom prst="roundRect">
            <a:avLst>
              <a:gd name="adj" fmla="val 49999"/>
            </a:avLst>
          </a:prstGeom>
          <a:solidFill>
            <a:srgbClr val="2348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707" y="2457946"/>
            <a:ext cx="7873803" cy="3811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40576" cy="685800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355600"/>
            <a:ext cx="84579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000000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Role profile · departures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2588" y="921980"/>
            <a:ext cx="8026199" cy="1088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Role-level risk is led by frontline and technical jobs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82588" y="2200771"/>
            <a:ext cx="1003176" cy="38100"/>
          </a:xfrm>
          <a:prstGeom prst="roundRect">
            <a:avLst>
              <a:gd name="adj" fmla="val 49999"/>
            </a:avLst>
          </a:prstGeom>
          <a:solidFill>
            <a:srgbClr val="2348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588" y="2457946"/>
            <a:ext cx="7873803" cy="37860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40576" y="0"/>
            <a:ext cx="3251119" cy="685800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8" name="Shape 5"/>
          <p:cNvSpPr/>
          <p:nvPr/>
        </p:nvSpPr>
        <p:spPr>
          <a:xfrm>
            <a:off x="9245369" y="428625"/>
            <a:ext cx="330192" cy="57150"/>
          </a:xfrm>
          <a:prstGeom prst="roundRect">
            <a:avLst>
              <a:gd name="adj" fmla="val 49999"/>
            </a:avLst>
          </a:prstGeom>
          <a:solidFill>
            <a:srgbClr val="E9272A"/>
          </a:solidFill>
          <a:ln/>
        </p:spPr>
      </p:sp>
      <p:sp>
        <p:nvSpPr>
          <p:cNvPr id="9" name="Text 6"/>
          <p:cNvSpPr/>
          <p:nvPr/>
        </p:nvSpPr>
        <p:spPr>
          <a:xfrm>
            <a:off x="9245369" y="704850"/>
            <a:ext cx="294632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FCFBF8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Leading roles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245369" y="1258153"/>
            <a:ext cx="2641534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dirty="0">
                <a:solidFill>
                  <a:srgbClr val="FCFBF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Laboratory Technician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245369" y="2237803"/>
            <a:ext cx="2641534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dirty="0">
                <a:solidFill>
                  <a:srgbClr val="FCFBF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62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9245369" y="3027105"/>
            <a:ext cx="29463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C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departures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245369" y="5850235"/>
            <a:ext cx="2641534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FCFBF8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Sales Executive · 57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FCFBF8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Research Scientist · 47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FCFBF8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Sales Representative · 33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381000"/>
            <a:ext cx="680703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000000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Tenure profile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87" y="952197"/>
            <a:ext cx="6349841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Early-tenure attrition is the sharpest signal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7987" y="2277963"/>
            <a:ext cx="793631" cy="38100"/>
          </a:xfrm>
          <a:prstGeom prst="roundRect">
            <a:avLst>
              <a:gd name="adj" fmla="val 49999"/>
            </a:avLst>
          </a:prstGeom>
          <a:solidFill>
            <a:srgbClr val="2348FF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2556919"/>
            <a:ext cx="6807030" cy="312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The distribution peaks around year 1.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87" y="3288034"/>
            <a:ext cx="2946326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7.0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7987" y="4073525"/>
            <a:ext cx="317492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000000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Average years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11502" y="3288034"/>
            <a:ext cx="2946326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37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911502" y="4073525"/>
            <a:ext cx="294632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000000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Average 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87" y="4589363"/>
            <a:ext cx="680703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000000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Average salary · 6.5K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87" y="4956612"/>
            <a:ext cx="63498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onboarding, first-year manager support, and pay progression as the first diagnostic lenses.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EEECE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676558" y="3019425"/>
            <a:ext cx="12700" cy="1398488"/>
          </a:xfrm>
          <a:prstGeom prst="rect">
            <a:avLst/>
          </a:prstGeom>
          <a:solidFill>
            <a:srgbClr val="2348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55600"/>
            <a:ext cx="117091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spc="14" kern="100" dirty="0">
                <a:solidFill>
                  <a:srgbClr val="000000"/>
                </a:solidFill>
                <a:latin typeface="Bodoni Moda Medium" pitchFamily="34" charset="0"/>
                <a:ea typeface="Bodoni Moda Medium" pitchFamily="34" charset="-122"/>
                <a:cs typeface="Bodoni Moda Medium" pitchFamily="34" charset="-120"/>
              </a:rPr>
              <a:t>Next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2588" y="926797"/>
            <a:ext cx="11251919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leadership should investigate next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82588" y="1682651"/>
            <a:ext cx="1406490" cy="38100"/>
          </a:xfrm>
          <a:prstGeom prst="roundRect">
            <a:avLst>
              <a:gd name="adj" fmla="val 49999"/>
            </a:avLst>
          </a:prstGeom>
          <a:solidFill>
            <a:srgbClr val="2348FF"/>
          </a:solidFill>
          <a:ln/>
        </p:spPr>
      </p:sp>
      <p:sp>
        <p:nvSpPr>
          <p:cNvPr id="5" name="Shape 3"/>
          <p:cNvSpPr/>
          <p:nvPr/>
        </p:nvSpPr>
        <p:spPr>
          <a:xfrm>
            <a:off x="482588" y="1943001"/>
            <a:ext cx="336542" cy="336550"/>
          </a:xfrm>
          <a:prstGeom prst="ellipse">
            <a:avLst/>
          </a:prstGeom>
          <a:solidFill>
            <a:srgbClr val="151514"/>
          </a:solidFill>
          <a:ln w="6350">
            <a:solidFill>
              <a:srgbClr val="D6D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6562" y="201602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1526" y="1965162"/>
            <a:ext cx="10762981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Compare first-year attrition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71526" y="2378809"/>
            <a:ext cx="1076298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role, manager, and salary band.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2588" y="3607792"/>
            <a:ext cx="336542" cy="336550"/>
          </a:xfrm>
          <a:prstGeom prst="ellipse">
            <a:avLst/>
          </a:prstGeom>
          <a:solidFill>
            <a:srgbClr val="151514"/>
          </a:solidFill>
          <a:ln w="6350">
            <a:solidFill>
              <a:srgbClr val="D6D3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562" y="3680817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1526" y="3629954"/>
            <a:ext cx="10762981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Test pay compression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71526" y="4043601"/>
            <a:ext cx="1076298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it strongest in the highest-volume roles?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2588" y="5272584"/>
            <a:ext cx="336542" cy="336550"/>
          </a:xfrm>
          <a:prstGeom prst="ellipse">
            <a:avLst/>
          </a:prstGeom>
          <a:solidFill>
            <a:srgbClr val="151514"/>
          </a:solidFill>
          <a:ln w="6350">
            <a:solidFill>
              <a:srgbClr val="D6D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562" y="5345609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1526" y="5294745"/>
            <a:ext cx="10762981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Pair the next dashboard cut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71526" y="5708392"/>
            <a:ext cx="1076298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exit reasons and hiring cohorts.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2588" y="3369667"/>
            <a:ext cx="11251919" cy="12700"/>
          </a:xfrm>
          <a:prstGeom prst="rect">
            <a:avLst/>
          </a:prstGeom>
          <a:solidFill>
            <a:srgbClr val="C7C4BC"/>
          </a:solidFill>
          <a:ln/>
        </p:spPr>
      </p:sp>
      <p:sp>
        <p:nvSpPr>
          <p:cNvPr id="18" name="Shape 16"/>
          <p:cNvSpPr/>
          <p:nvPr/>
        </p:nvSpPr>
        <p:spPr>
          <a:xfrm>
            <a:off x="482588" y="5034459"/>
            <a:ext cx="11251919" cy="12700"/>
          </a:xfrm>
          <a:prstGeom prst="rect">
            <a:avLst/>
          </a:prstGeom>
          <a:solidFill>
            <a:srgbClr val="C7C4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2026-10-20T03:15:02Z</dcterms:created>
  <dcterms:modified xsi:type="dcterms:W3CDTF">2026-10-20T03:15:02Z</dcterms:modified>
</cp:coreProperties>
</file>